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548640"/>
            <a:ext cx="2011680" cy="2011680"/>
          </a:xfrm>
          <a:prstGeom prst="ellipse">
            <a:avLst/>
          </a:prstGeom>
          <a:solidFill>
            <a:srgbClr val="1B4F8A">
              <a:alpha val="45000"/>
            </a:srgbClr>
          </a:solidFill>
          <a:ln w="12700">
            <a:solidFill>
              <a:srgbClr val="1B4F8A">
                <a:alpha val="4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457200"/>
            <a:ext cx="1188720" cy="1188720"/>
          </a:xfrm>
          <a:prstGeom prst="ellipse">
            <a:avLst/>
          </a:prstGeom>
          <a:solidFill>
            <a:srgbClr val="0E9AA7">
              <a:alpha val="35000"/>
            </a:srgbClr>
          </a:solidFill>
          <a:ln w="12700">
            <a:solidFill>
              <a:srgbClr val="0E9AA7">
                <a:alpha val="3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502920"/>
            <a:ext cx="1828800" cy="31089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50292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GROUP PROJECT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11480" y="9601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Platform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411480" y="1901952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EcommerceBIT_EN  |  Relational Database Design &amp; MySQL Implementation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11480" y="2450592"/>
            <a:ext cx="5029200" cy="3657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5786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971800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443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NITIEMA Teegawendé Eddy Martial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319272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YANOGO Fabiana Stéphanie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3666744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63931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OUEDRAOGO Akram Mu'min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94436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 Nibouor Chèoutièrou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319272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2918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KIENDREBEOGO Moussa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63440" y="3666744"/>
            <a:ext cx="109728" cy="10972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63931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KABORE Oceanne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  |  Instructor: Kweyakie Afi Blebo  |  Deadline: 15 March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1.1 —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17043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EcommerceBIT_EN — a fully normalized relational database for an E-Commerce Platform covering product browsing, order management, and payment processing.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28800"/>
            <a:ext cx="269748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28800"/>
            <a:ext cx="2697480" cy="594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230428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Organises products into groups (Electronics, Fashion…)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828800"/>
            <a:ext cx="269748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828800"/>
            <a:ext cx="2697480" cy="594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21608" y="19202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55848" y="230428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with email, password, and address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1828800"/>
            <a:ext cx="269748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1828800"/>
            <a:ext cx="2697480" cy="594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81928" y="1920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647688" y="1920240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281928" y="2304288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for sale linked to a category with price &amp; stock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269748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090672"/>
            <a:ext cx="2697480" cy="594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95528" y="3182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" y="356616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event — status: Pending/Shipped/Delivered/Cancelled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46120" y="3090672"/>
            <a:ext cx="269748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46120" y="3090672"/>
            <a:ext cx="2697480" cy="594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21608" y="3182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55848" y="356616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table — resolves M:N between Orders &amp; Products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72200" y="3090672"/>
            <a:ext cx="269748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3090672"/>
            <a:ext cx="2697480" cy="59436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928" y="31821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647688" y="318211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281928" y="3566160"/>
            <a:ext cx="24871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payment record per order (Mobile Money, Card, Cash…)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EcommerceBIT_EN  |  Burkina Institute of Technology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Overview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1.2 — RELATIONSHIPS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65760" y="1078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A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57400" y="1078992"/>
            <a:ext cx="8412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944368" y="10789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B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663440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766560" y="10789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216152"/>
            <a:ext cx="8503920" cy="539496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27101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057400" y="1307592"/>
            <a:ext cx="841248" cy="329184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57400" y="130759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44368" y="127101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663440" y="12710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Orders.customer_id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766560" y="127101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places many orders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1801368"/>
            <a:ext cx="8503920" cy="5394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85623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057400" y="1892808"/>
            <a:ext cx="841248" cy="329184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57400" y="189280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44368" y="1856232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663440" y="185623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Products.category_id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766560" y="1856232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category contains many products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2386584"/>
            <a:ext cx="8503920" cy="539496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44144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057400" y="2478024"/>
            <a:ext cx="841248" cy="329184"/>
          </a:xfrm>
          <a:prstGeom prst="rect">
            <a:avLst/>
          </a:prstGeom>
          <a:solidFill>
            <a:srgbClr val="7B2D8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57400" y="2478024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44368" y="2441448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663440" y="24414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Order_Items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766560" y="24414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by junction table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2971800"/>
            <a:ext cx="8503920" cy="5394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026664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057400" y="3063240"/>
            <a:ext cx="841248" cy="329184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057400" y="306324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944368" y="3026664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663440" y="30266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Order_Items.order_id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766560" y="3026664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has many line items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557016"/>
            <a:ext cx="8503920" cy="539496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36118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2057400" y="3648456"/>
            <a:ext cx="841248" cy="329184"/>
          </a:xfrm>
          <a:prstGeom prst="rect">
            <a:avLst/>
          </a:prstGeom>
          <a:solidFill>
            <a:srgbClr val="1B4F8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57400" y="3648456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944368" y="3611880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663440" y="3611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Order_Items.product_id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766560" y="3611880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product in many order lines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42232"/>
            <a:ext cx="8503920" cy="539496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19709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057400" y="4233672"/>
            <a:ext cx="841248" cy="329184"/>
          </a:xfrm>
          <a:prstGeom prst="rect">
            <a:avLst/>
          </a:prstGeom>
          <a:solidFill>
            <a:srgbClr val="B8860B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57400" y="4233672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944368" y="4197096"/>
            <a:ext cx="1645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4663440" y="419709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Payments.order_id UNIQUE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766560" y="4197096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payment per order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EcommerceBIT_EN  |  Burkina Institute of Technology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1.3 — SCHEMA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475488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Diagram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46888" y="1033272"/>
            <a:ext cx="1828800" cy="804672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46888" y="1033272"/>
            <a:ext cx="182880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42416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8328" y="134416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category_id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38328" y="15590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category_name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76272" y="1033272"/>
            <a:ext cx="2011680" cy="138988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76272" y="1033272"/>
            <a:ext cx="201168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9424" y="10424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267712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product_id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67712" y="15590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product_name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267712" y="17739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267712" y="19888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67712" y="22037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category_id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297680" y="1033272"/>
            <a:ext cx="2011680" cy="1170432"/>
          </a:xfrm>
          <a:prstGeom prst="rect">
            <a:avLst/>
          </a:prstGeom>
          <a:solidFill>
            <a:srgbClr val="13233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0" y="1033272"/>
            <a:ext cx="2011680" cy="2743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10424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89120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order_id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389120" y="15590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389120" y="17739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389120" y="19888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customer_id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76288" y="1033272"/>
            <a:ext cx="2011680" cy="1389888"/>
          </a:xfrm>
          <a:prstGeom prst="rect">
            <a:avLst/>
          </a:prstGeom>
          <a:solidFill>
            <a:srgbClr val="132338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76288" y="1033272"/>
            <a:ext cx="2011680" cy="27432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042416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967728" y="134416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payment_id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67728" y="155905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payment_date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67728" y="177393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967728" y="19888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payment_method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67728" y="2203704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 UNIQUE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46888" y="2834640"/>
            <a:ext cx="1828800" cy="1600200"/>
          </a:xfrm>
          <a:prstGeom prst="rect">
            <a:avLst/>
          </a:prstGeom>
          <a:solidFill>
            <a:srgbClr val="132338"/>
          </a:solidFill>
          <a:ln w="1270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246888" y="2834640"/>
            <a:ext cx="1828800" cy="274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0040" y="2843784"/>
            <a:ext cx="1682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8328" y="314553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customer_id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38328" y="33604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last_name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8328" y="35753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first_name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38328" y="379018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38328" y="400507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38328" y="421995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657600" y="2834640"/>
            <a:ext cx="2340864" cy="1389888"/>
          </a:xfrm>
          <a:prstGeom prst="rect">
            <a:avLst/>
          </a:prstGeom>
          <a:solidFill>
            <a:srgbClr val="132338"/>
          </a:solidFill>
          <a:ln w="12700">
            <a:solidFill>
              <a:srgbClr val="F4B9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657600" y="2834640"/>
            <a:ext cx="2340864" cy="2743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730752" y="28437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3749040" y="3145536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order_item_id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749040" y="3360420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order_id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749040" y="3575304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product_id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749040" y="3790188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749040" y="4005072"/>
            <a:ext cx="21579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unit_price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075688" y="1325880"/>
            <a:ext cx="100584" cy="0"/>
          </a:xfrm>
          <a:prstGeom prst="line">
            <a:avLst/>
          </a:prstGeom>
          <a:noFill/>
          <a:ln w="12700">
            <a:solidFill>
              <a:srgbClr val="0E9AA7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3255264" y="1645920"/>
            <a:ext cx="0" cy="1188720"/>
          </a:xfrm>
          <a:prstGeom prst="line">
            <a:avLst/>
          </a:prstGeom>
          <a:noFill/>
          <a:ln w="12700">
            <a:solidFill>
              <a:srgbClr val="F4B942"/>
            </a:solidFill>
            <a:prstDash val="dash"/>
          </a:ln>
        </p:spPr>
      </p:sp>
      <p:sp>
        <p:nvSpPr>
          <p:cNvPr id="53" name="Shape 51"/>
          <p:cNvSpPr/>
          <p:nvPr/>
        </p:nvSpPr>
        <p:spPr>
          <a:xfrm>
            <a:off x="4297680" y="1783080"/>
            <a:ext cx="-128016" cy="1463040"/>
          </a:xfrm>
          <a:prstGeom prst="line">
            <a:avLst/>
          </a:prstGeom>
          <a:noFill/>
          <a:ln w="12700">
            <a:solidFill>
              <a:srgbClr val="F4B942"/>
            </a:solidFill>
            <a:prstDash val="dash"/>
          </a:ln>
        </p:spPr>
      </p:sp>
      <p:sp>
        <p:nvSpPr>
          <p:cNvPr id="54" name="Shape 52"/>
          <p:cNvSpPr/>
          <p:nvPr/>
        </p:nvSpPr>
        <p:spPr>
          <a:xfrm>
            <a:off x="1161288" y="2834640"/>
            <a:ext cx="3200400" cy="-822960"/>
          </a:xfrm>
          <a:prstGeom prst="line">
            <a:avLst/>
          </a:prstGeom>
          <a:noFill/>
          <a:ln w="12700">
            <a:solidFill>
              <a:srgbClr val="B8860B"/>
            </a:solidFill>
            <a:prstDash val="dash"/>
          </a:ln>
        </p:spPr>
      </p:sp>
      <p:sp>
        <p:nvSpPr>
          <p:cNvPr id="55" name="Shape 53"/>
          <p:cNvSpPr/>
          <p:nvPr/>
        </p:nvSpPr>
        <p:spPr>
          <a:xfrm>
            <a:off x="6309360" y="1508760"/>
            <a:ext cx="566928" cy="0"/>
          </a:xfrm>
          <a:prstGeom prst="line">
            <a:avLst/>
          </a:prstGeom>
          <a:noFill/>
          <a:ln w="12700">
            <a:solidFill>
              <a:srgbClr val="7B2D8B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246888" y="44988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 Primary Key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1920240" y="4498848"/>
            <a:ext cx="1554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 Foreign Key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3566160" y="4498848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 Relationship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EcommerceBIT_EN  |  Burkina Institute of Technology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Diagram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1.4 — NORMALIZATION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Walkthrough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207008"/>
            <a:ext cx="850392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B8504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207008"/>
            <a:ext cx="91440" cy="107899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98448"/>
            <a:ext cx="1005840" cy="2743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2984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00200" y="12801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Unnormalized Form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609344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Repeating groups in one flat table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810512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Violation: Columns product_id_1, product_name_1, product_id_2 … store same-type data in multiple columns.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011680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Flatten: one row per (order_id, product_id). Composite PK: (order_id, product_id).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850392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91440" cy="107899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468880"/>
            <a:ext cx="1005840" cy="27432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4688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1NF→2NF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600200" y="245059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Second Normal Form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2779776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Partial dependencies on composite PK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2980944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Violation: customer fields depend only on customer_id. product fields depend only on product_id — not the full key.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02920" y="3182112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Extract Customers and Products into separate tables. Order_Items keeps only (order_id, product_id, quantity).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47872"/>
            <a:ext cx="8503920" cy="1078992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547872"/>
            <a:ext cx="91440" cy="107899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" y="3639312"/>
            <a:ext cx="1005840" cy="2743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6393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2NF→3NF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600200" y="362102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to Third Normal Form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3950208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Transitive dependencies (A → B → C)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151376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Violation: category_name depends on category_id, not product_id. payment fields belong to a Payment concept, not Orders.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" y="4352544"/>
            <a:ext cx="8183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Extract Categories and Payments into their own tables. Final schema: 6 tables in 3NF.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EcommerceBIT_EN  |  Burkina Institute of Technology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" y="1216152"/>
            <a:ext cx="4206240" cy="106984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29768" y="1289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0120" y="128930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Primary Keys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67335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tables use INT AUTO_INCREMENT PKs. Natural keys like email or category_name can change — surrogate keys keep FK references stable.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16152"/>
            <a:ext cx="4206240" cy="106984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8930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94960" y="1289304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Order_Items Junction Table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64608" y="1673352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the M:N between Orders and Products. Stores quantity and unit_price at purchase time — crucial since product prices can change.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4206240" cy="106984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" y="2450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60120" y="2450592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SET NULL (Category)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" y="28346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category sets Products.category_id to NULL instead of blocking. Products still exist — they just become uncategorized.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377440"/>
            <a:ext cx="4206240" cy="106984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4505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394960" y="2450592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(Orders→Customer)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64608" y="2834640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a customer automatically removes all their orders and related items. Useful for GDPR-style account deletion.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3538728"/>
            <a:ext cx="4206240" cy="106984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29768" y="3611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960120" y="36118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Payments per Order (UNIQUE)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" y="399592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Payments.order_id has a UNIQUE constraint — exactly one payment record per order. Simpler than 1:M because this platform records the final successful payment only.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538728"/>
            <a:ext cx="4206240" cy="106984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64608" y="3611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394960" y="3611880"/>
            <a:ext cx="34564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 in Customers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64608" y="3995928"/>
            <a:ext cx="3977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stored as hashes, never in plain text. This is a real-world security best practice included in the schema design.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EcommerceBIT_EN  |  Burkina Institute of Technology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Decisions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COMPLEX QUERY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85039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 Query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question: Which customers spent more than 50,000 FCFA in total, and how many orders did they place?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72768"/>
            <a:ext cx="5120640" cy="2999232"/>
          </a:xfrm>
          <a:prstGeom prst="rect">
            <a:avLst/>
          </a:prstGeom>
          <a:solidFill>
            <a:srgbClr val="0A1520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664208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888236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C.last_name,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38912" y="2112264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C.first_name,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38912" y="2336292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COUNT(O.order_id)          AS total_orders,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38912" y="2560320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SUM(OI.quantity * OI.unit_price) AS total_spent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38912" y="2784348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3008376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      ON C.customer_id = O.customer_id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8912" y="3232404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Order_Items OI ON O.order_id = OI.order_id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38912" y="3456432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38912" y="3680460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C.customer_id, C.last_name, C.first_name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38912" y="3904488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total_spent &gt; 50000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" y="4128516"/>
            <a:ext cx="4892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9AA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total_spent DESC;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577840" y="1572768"/>
            <a:ext cx="324612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572768"/>
            <a:ext cx="73152" cy="658368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160934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15000" y="1847088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 Customers → Orders → Order_Items for full purchase history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2322576"/>
            <a:ext cx="324612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577840" y="2322576"/>
            <a:ext cx="73152" cy="65836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235915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2596896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total spent and order count per customer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3072384"/>
            <a:ext cx="324612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77840" y="3072384"/>
            <a:ext cx="73152" cy="6583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15000" y="3108960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346704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Post-aggregation filter — only customers spending &gt; 50,000 FCFA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3822192"/>
            <a:ext cx="3246120" cy="658368"/>
          </a:xfrm>
          <a:prstGeom prst="rect">
            <a:avLst/>
          </a:prstGeom>
          <a:solidFill>
            <a:srgbClr val="132338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577840" y="3822192"/>
            <a:ext cx="73152" cy="658368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385876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715000" y="4096512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customers from highest to lowest spender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818888"/>
            <a:ext cx="6400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CS27 — EcommerceBIT_EN  |  Burkina Institute of Technology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858000" y="4818888"/>
            <a:ext cx="2011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Query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9202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E9AA7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-731520"/>
            <a:ext cx="2926080" cy="2926080"/>
          </a:xfrm>
          <a:prstGeom prst="ellipse">
            <a:avLst/>
          </a:prstGeom>
          <a:solidFill>
            <a:srgbClr val="0E9AA7">
              <a:alpha val="20000"/>
            </a:srgbClr>
          </a:solidFill>
          <a:ln w="12700">
            <a:solidFill>
              <a:srgbClr val="0E9AA7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EcommerceBIT_EN  —  CS27 End-of-Semester Group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Burkina Institute of Technology  |  Instructor: Kweyakie Afi Blebo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1993392" cy="1115568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21408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(3NF)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42032" y="2084832"/>
            <a:ext cx="1993392" cy="1115568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33472" y="2121408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33472" y="2651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Types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18304" y="2084832"/>
            <a:ext cx="1993392" cy="1115568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09744" y="2121408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809744" y="2651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Queries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894576" y="2084832"/>
            <a:ext cx="1993392" cy="1115568"/>
          </a:xfrm>
          <a:prstGeom prst="rect">
            <a:avLst/>
          </a:prstGeom>
          <a:solidFill>
            <a:srgbClr val="132338"/>
          </a:solidFill>
          <a:ln w="12700">
            <a:solidFill>
              <a:srgbClr val="0E9AA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86016" y="2121408"/>
            <a:ext cx="181051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986016" y="2651760"/>
            <a:ext cx="18105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per Order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3649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Members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3749040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216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NITIEMA Teegawendé Eddy Martial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050792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40233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YANOGO Fabiana Stéphanie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352544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OUEDRAOGO Akram Mu'min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749040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7216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 Nibouor Chèoutièrou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4050792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KIENDREBEOGO Moussa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4352544"/>
            <a:ext cx="91440" cy="91440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4325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KABORE Oceanne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32338"/>
          </a:solidFill>
          <a:ln w="12700">
            <a:solidFill>
              <a:srgbClr val="13233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0" y="4818888"/>
            <a:ext cx="9144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2026-03-11T12:56:17Z</dcterms:created>
  <dcterms:modified xsi:type="dcterms:W3CDTF">2026-03-11T12:56:17Z</dcterms:modified>
</cp:coreProperties>
</file>